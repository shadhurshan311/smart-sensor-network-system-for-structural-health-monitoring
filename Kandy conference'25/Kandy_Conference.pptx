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103dbdd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103dbdd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9a103dbdd9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103dbdd9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a103dbdd9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a103dbdd9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103dbdd9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a103dbdd9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9a103dbdd9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97e64e133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97e64e133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97e64e133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4.jpg"/><Relationship Id="rId5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jpg"/><Relationship Id="rId5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/>
        </p:nvSpPr>
        <p:spPr>
          <a:xfrm>
            <a:off x="931538" y="706843"/>
            <a:ext cx="6986977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The 16</a:t>
            </a:r>
            <a:r>
              <a:rPr b="1" baseline="30000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International Conference on Sustainable Built Environment and Next-Generation Innovation &amp; Advancement - DIAMOND 75</a:t>
            </a:r>
            <a:endParaRPr b="1" i="0" sz="18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Earl’s Regency Hotel, Kandy, Sri Lanka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1" baseline="30000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- 14</a:t>
            </a:r>
            <a:r>
              <a:rPr b="1" baseline="30000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i="0" lang="en-US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December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124860" y="45128"/>
            <a:ext cx="2798275" cy="5619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ICSBE25_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697" y="440731"/>
            <a:ext cx="2025507" cy="14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4">
            <a:alphaModFix/>
          </a:blip>
          <a:srcRect b="26185" l="20904" r="18889" t="18282"/>
          <a:stretch/>
        </p:blipFill>
        <p:spPr>
          <a:xfrm>
            <a:off x="7609293" y="337874"/>
            <a:ext cx="1821245" cy="16798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78900" y="2971500"/>
            <a:ext cx="11577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</a:rPr>
              <a:t>TITLE: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SENSOR NETWORK SYSTEM FOR SHM</a:t>
            </a:r>
            <a:endParaRPr b="1" i="0" sz="32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208950" y="4413625"/>
            <a:ext cx="119793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Shadhurshan N.</a:t>
            </a:r>
            <a:b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Affiliation      :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Electrical and Electronic Engineering, University of Peradeniya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Country         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Lanka </a:t>
            </a:r>
            <a:endParaRPr b="1" i="0" sz="24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815449" y="5962025"/>
            <a:ext cx="861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Authors:</a:t>
            </a:r>
            <a:r>
              <a:rPr b="1" i="0" lang="en-US" sz="2400" u="none" cap="none" strike="noStrike">
                <a:solidFill>
                  <a:srgbClr val="38562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Sarusan S</a:t>
            </a:r>
            <a:r>
              <a:rPr lang="en-US" sz="2400">
                <a:solidFill>
                  <a:schemeClr val="dk1"/>
                </a:solidFill>
              </a:rPr>
              <a:t>.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Ashwint</a:t>
            </a:r>
            <a:r>
              <a:rPr lang="en-US" sz="2400">
                <a:solidFill>
                  <a:schemeClr val="dk1"/>
                </a:solidFill>
              </a:rPr>
              <a:t>han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G.K. and  </a:t>
            </a:r>
            <a:r>
              <a:rPr lang="en-US" sz="2400">
                <a:solidFill>
                  <a:schemeClr val="dk1"/>
                </a:solidFill>
              </a:rPr>
              <a:t>Shadhurshan N.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7205600" y="4180550"/>
            <a:ext cx="2880954" cy="991818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7037625" y="1870927"/>
            <a:ext cx="4909032" cy="133477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838200" y="6559378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002060"/>
                </a:solidFill>
              </a:rPr>
              <a:t>The 16</a:t>
            </a:r>
            <a:r>
              <a:rPr b="1" baseline="30000" lang="en-US" sz="1400">
                <a:solidFill>
                  <a:srgbClr val="002060"/>
                </a:solidFill>
              </a:rPr>
              <a:t>th</a:t>
            </a:r>
            <a:r>
              <a:rPr b="1" lang="en-US" sz="1400">
                <a:solidFill>
                  <a:srgbClr val="002060"/>
                </a:solidFill>
              </a:rPr>
              <a:t> International Conference on Sustainable Built Environment – 2025, Kandy, Sri Lanka  | 12</a:t>
            </a:r>
            <a:r>
              <a:rPr b="1" baseline="30000" lang="en-US" sz="1400">
                <a:solidFill>
                  <a:srgbClr val="002060"/>
                </a:solidFill>
              </a:rPr>
              <a:t>th</a:t>
            </a:r>
            <a:r>
              <a:rPr b="1" lang="en-US" sz="1400">
                <a:solidFill>
                  <a:srgbClr val="002060"/>
                </a:solidFill>
              </a:rPr>
              <a:t> - 14</a:t>
            </a:r>
            <a:r>
              <a:rPr b="1" baseline="30000" lang="en-US" sz="1400">
                <a:solidFill>
                  <a:srgbClr val="002060"/>
                </a:solidFill>
              </a:rPr>
              <a:t>th</a:t>
            </a:r>
            <a:r>
              <a:rPr b="1" lang="en-US" sz="1400">
                <a:solidFill>
                  <a:srgbClr val="002060"/>
                </a:solidFill>
              </a:rPr>
              <a:t> December 2025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002060"/>
                </a:solidFill>
              </a:rPr>
              <a:t> </a:t>
            </a:r>
            <a:endParaRPr/>
          </a:p>
        </p:txBody>
      </p:sp>
      <p:sp>
        <p:nvSpPr>
          <p:cNvPr id="49" name="Google Shape;49;p6"/>
          <p:cNvSpPr txBox="1"/>
          <p:nvPr/>
        </p:nvSpPr>
        <p:spPr>
          <a:xfrm>
            <a:off x="63509" y="-21246"/>
            <a:ext cx="2286693" cy="361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ICSBE25_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pic>
        <p:nvPicPr>
          <p:cNvPr id="50" name="Google Shape;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6686" y="159448"/>
            <a:ext cx="1369992" cy="99182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11514166" y="6333427"/>
            <a:ext cx="5296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320652" y="523701"/>
            <a:ext cx="2796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i="0" sz="2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6" title="Sampoong_Shoppingcenter-smal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0275" y="1603300"/>
            <a:ext cx="2032632" cy="1524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6" title="pexels-joshua-mueller-14887766-1800x120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300" y="1589000"/>
            <a:ext cx="2286702" cy="152447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2725150" y="4173825"/>
            <a:ext cx="2538900" cy="55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2862852" y="4134251"/>
            <a:ext cx="2796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Problems in Manual Inspection</a:t>
            </a:r>
            <a:endParaRPr b="1" i="0" sz="18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320652" y="4086151"/>
            <a:ext cx="2796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Unreliable</a:t>
            </a:r>
            <a:endParaRPr i="0" sz="24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838202" y="5429914"/>
            <a:ext cx="2796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</a:t>
            </a:r>
            <a:endParaRPr i="0" sz="24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6"/>
          <p:cNvSpPr/>
          <p:nvPr/>
        </p:nvSpPr>
        <p:spPr>
          <a:xfrm flipH="1">
            <a:off x="1768900" y="4212450"/>
            <a:ext cx="767100" cy="1722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 rot="7657641">
            <a:off x="2283087" y="5081620"/>
            <a:ext cx="767047" cy="172213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320650" y="1097888"/>
            <a:ext cx="36636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need crack monitoring ?</a:t>
            </a:r>
            <a:endParaRPr i="0" sz="18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754452" y="3143013"/>
            <a:ext cx="2796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Aging concrete structures</a:t>
            </a:r>
            <a:endParaRPr i="0" sz="1300" u="none" cap="none" strike="noStrike">
              <a:solidFill>
                <a:schemeClr val="accent4"/>
              </a:solidFill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4187825" y="1132551"/>
            <a:ext cx="27960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it Ignored ???</a:t>
            </a:r>
            <a:endParaRPr i="0" sz="18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3952152" y="3205676"/>
            <a:ext cx="2796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Seoul, South Korea - 1995 June 29</a:t>
            </a:r>
            <a:endParaRPr i="0" sz="1300" u="none" cap="none" strike="noStrike">
              <a:solidFill>
                <a:schemeClr val="accent4"/>
              </a:solidFill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8176575" y="2153150"/>
            <a:ext cx="347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CRACK MONITORING IS MUCH              IMPORTANT !!!</a:t>
            </a:r>
            <a:endParaRPr b="1" i="0" sz="15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 rot="5401344">
            <a:off x="3124332" y="5081516"/>
            <a:ext cx="767100" cy="1722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2862852" y="5731726"/>
            <a:ext cx="2796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??</a:t>
            </a:r>
            <a:endParaRPr i="0" sz="24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4187827" y="5429901"/>
            <a:ext cx="2796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??</a:t>
            </a:r>
            <a:endParaRPr i="0" sz="24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6"/>
          <p:cNvSpPr/>
          <p:nvPr/>
        </p:nvSpPr>
        <p:spPr>
          <a:xfrm rot="3734550">
            <a:off x="4042895" y="5022731"/>
            <a:ext cx="767182" cy="172308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7415002" y="4314714"/>
            <a:ext cx="27960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a Automated, reliable and a low cost setup</a:t>
            </a:r>
            <a:endParaRPr b="1" i="0" sz="18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/>
          <p:nvPr>
            <p:ph type="title"/>
          </p:nvPr>
        </p:nvSpPr>
        <p:spPr>
          <a:xfrm>
            <a:off x="237900" y="-7487"/>
            <a:ext cx="11115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Methodology</a:t>
            </a:r>
            <a:endParaRPr b="1" sz="2400"/>
          </a:p>
        </p:txBody>
      </p:sp>
      <p:sp>
        <p:nvSpPr>
          <p:cNvPr id="77" name="Google Shape;77;p7"/>
          <p:cNvSpPr txBox="1"/>
          <p:nvPr>
            <p:ph idx="1" type="body"/>
          </p:nvPr>
        </p:nvSpPr>
        <p:spPr>
          <a:xfrm>
            <a:off x="838200" y="6431650"/>
            <a:ext cx="10515600" cy="36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rgbClr val="002060"/>
                </a:solidFill>
              </a:rPr>
              <a:t>The 16</a:t>
            </a:r>
            <a:r>
              <a:rPr b="1" baseline="30000" lang="en-US" sz="1400">
                <a:solidFill>
                  <a:srgbClr val="002060"/>
                </a:solidFill>
              </a:rPr>
              <a:t>th</a:t>
            </a:r>
            <a:r>
              <a:rPr b="1" lang="en-US" sz="1400">
                <a:solidFill>
                  <a:srgbClr val="002060"/>
                </a:solidFill>
              </a:rPr>
              <a:t> International Conference on Sustainable Built Environment – 2025, Kandy, Sri Lanka  | 12</a:t>
            </a:r>
            <a:r>
              <a:rPr b="1" baseline="30000" lang="en-US" sz="1400">
                <a:solidFill>
                  <a:srgbClr val="002060"/>
                </a:solidFill>
              </a:rPr>
              <a:t>th</a:t>
            </a:r>
            <a:r>
              <a:rPr b="1" lang="en-US" sz="1400">
                <a:solidFill>
                  <a:srgbClr val="002060"/>
                </a:solidFill>
              </a:rPr>
              <a:t> - 14</a:t>
            </a:r>
            <a:r>
              <a:rPr b="1" baseline="30000" lang="en-US" sz="1400">
                <a:solidFill>
                  <a:srgbClr val="002060"/>
                </a:solidFill>
              </a:rPr>
              <a:t>th</a:t>
            </a:r>
            <a:r>
              <a:rPr b="1" lang="en-US" sz="1400">
                <a:solidFill>
                  <a:srgbClr val="002060"/>
                </a:solidFill>
              </a:rPr>
              <a:t> December 2025</a:t>
            </a:r>
            <a:endParaRPr sz="1200">
              <a:solidFill>
                <a:srgbClr val="888888"/>
              </a:solidFill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63509" y="-21246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ICSBE25_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pic>
        <p:nvPicPr>
          <p:cNvPr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6686" y="159448"/>
            <a:ext cx="1369992" cy="99182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 txBox="1"/>
          <p:nvPr/>
        </p:nvSpPr>
        <p:spPr>
          <a:xfrm>
            <a:off x="63509" y="-21246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ICSBE25_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63500" y="1076623"/>
            <a:ext cx="22866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crack 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photographs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/>
          </a:p>
        </p:txBody>
      </p:sp>
      <p:sp>
        <p:nvSpPr>
          <p:cNvPr id="82" name="Google Shape;82;p7"/>
          <p:cNvSpPr/>
          <p:nvPr/>
        </p:nvSpPr>
        <p:spPr>
          <a:xfrm>
            <a:off x="1316675" y="1412688"/>
            <a:ext cx="767100" cy="1722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2083775" y="116025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Processing and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Crack localization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/>
          </a:p>
        </p:txBody>
      </p:sp>
      <p:sp>
        <p:nvSpPr>
          <p:cNvPr id="84" name="Google Shape;84;p7"/>
          <p:cNvSpPr txBox="1"/>
          <p:nvPr/>
        </p:nvSpPr>
        <p:spPr>
          <a:xfrm>
            <a:off x="6917309" y="1197379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multi-sensor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/>
          </a:p>
        </p:txBody>
      </p:sp>
      <p:sp>
        <p:nvSpPr>
          <p:cNvPr id="85" name="Google Shape;85;p7"/>
          <p:cNvSpPr txBox="1"/>
          <p:nvPr/>
        </p:nvSpPr>
        <p:spPr>
          <a:xfrm>
            <a:off x="4780559" y="1197367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Sensor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setup</a:t>
            </a:r>
            <a:endParaRPr sz="1000"/>
          </a:p>
        </p:txBody>
      </p:sp>
      <p:sp>
        <p:nvSpPr>
          <p:cNvPr id="86" name="Google Shape;86;p7"/>
          <p:cNvSpPr txBox="1"/>
          <p:nvPr/>
        </p:nvSpPr>
        <p:spPr>
          <a:xfrm>
            <a:off x="9763925" y="12832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ML models </a:t>
            </a:r>
            <a:endParaRPr sz="1000"/>
          </a:p>
        </p:txBody>
      </p:sp>
      <p:sp>
        <p:nvSpPr>
          <p:cNvPr id="87" name="Google Shape;87;p7"/>
          <p:cNvSpPr/>
          <p:nvPr/>
        </p:nvSpPr>
        <p:spPr>
          <a:xfrm>
            <a:off x="3866600" y="1438125"/>
            <a:ext cx="767100" cy="1722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150200" y="1412700"/>
            <a:ext cx="767100" cy="1722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898100" y="1438125"/>
            <a:ext cx="767100" cy="1722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20600" y="4052250"/>
            <a:ext cx="2552100" cy="90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Challenges on Sensor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setup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224700" y="3779388"/>
            <a:ext cx="2552100" cy="90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Challenges while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ML models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1086775" y="303511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Variation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/>
          </a:p>
        </p:txBody>
      </p:sp>
      <p:sp>
        <p:nvSpPr>
          <p:cNvPr id="93" name="Google Shape;93;p7"/>
          <p:cNvSpPr txBox="1"/>
          <p:nvPr/>
        </p:nvSpPr>
        <p:spPr>
          <a:xfrm>
            <a:off x="1316675" y="55992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 flow through Al plates</a:t>
            </a:r>
            <a:endParaRPr sz="1000"/>
          </a:p>
        </p:txBody>
      </p:sp>
      <p:sp>
        <p:nvSpPr>
          <p:cNvPr id="94" name="Google Shape;94;p7"/>
          <p:cNvSpPr txBox="1"/>
          <p:nvPr/>
        </p:nvSpPr>
        <p:spPr>
          <a:xfrm>
            <a:off x="63500" y="53581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Vibrations</a:t>
            </a:r>
            <a:endParaRPr sz="1000"/>
          </a:p>
        </p:txBody>
      </p:sp>
      <p:sp>
        <p:nvSpPr>
          <p:cNvPr id="95" name="Google Shape;95;p7"/>
          <p:cNvSpPr/>
          <p:nvPr/>
        </p:nvSpPr>
        <p:spPr>
          <a:xfrm>
            <a:off x="1963650" y="3598150"/>
            <a:ext cx="264600" cy="603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 rot="10800000">
            <a:off x="1963650" y="4896088"/>
            <a:ext cx="264600" cy="603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 rot="-8290331">
            <a:off x="884874" y="4833149"/>
            <a:ext cx="264510" cy="602963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8107275" y="289418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Samples</a:t>
            </a:r>
            <a:endParaRPr sz="1000"/>
          </a:p>
        </p:txBody>
      </p:sp>
      <p:sp>
        <p:nvSpPr>
          <p:cNvPr id="99" name="Google Shape;99;p7"/>
          <p:cNvSpPr txBox="1"/>
          <p:nvPr/>
        </p:nvSpPr>
        <p:spPr>
          <a:xfrm>
            <a:off x="8107275" y="535813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sz="1000"/>
          </a:p>
        </p:txBody>
      </p:sp>
      <p:sp>
        <p:nvSpPr>
          <p:cNvPr id="100" name="Google Shape;100;p7"/>
          <p:cNvSpPr txBox="1"/>
          <p:nvPr/>
        </p:nvSpPr>
        <p:spPr>
          <a:xfrm>
            <a:off x="11107275" y="32384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Overfitting </a:t>
            </a:r>
            <a:endParaRPr sz="1000"/>
          </a:p>
        </p:txBody>
      </p:sp>
      <p:sp>
        <p:nvSpPr>
          <p:cNvPr id="101" name="Google Shape;101;p7"/>
          <p:cNvSpPr txBox="1"/>
          <p:nvPr/>
        </p:nvSpPr>
        <p:spPr>
          <a:xfrm>
            <a:off x="10075525" y="4858263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Biased performance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</a:t>
            </a:r>
            <a:endParaRPr sz="1000"/>
          </a:p>
        </p:txBody>
      </p:sp>
      <p:sp>
        <p:nvSpPr>
          <p:cNvPr id="102" name="Google Shape;102;p7"/>
          <p:cNvSpPr/>
          <p:nvPr/>
        </p:nvSpPr>
        <p:spPr>
          <a:xfrm>
            <a:off x="8991800" y="3238475"/>
            <a:ext cx="264600" cy="603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 rot="10800000">
            <a:off x="8991800" y="4623250"/>
            <a:ext cx="264600" cy="603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 rot="3689283">
            <a:off x="10715795" y="3498697"/>
            <a:ext cx="264590" cy="60287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 rot="6927633">
            <a:off x="10715846" y="4407741"/>
            <a:ext cx="264487" cy="602905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11514166" y="6333427"/>
            <a:ext cx="52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7" title="1751397717103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8688" y="2542619"/>
            <a:ext cx="2486577" cy="295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7" title="WhatsApp Image 2025-11-25 at 21.37.51_be7cfa4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0950" y="2542625"/>
            <a:ext cx="2217562" cy="2956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 txBox="1"/>
          <p:nvPr/>
        </p:nvSpPr>
        <p:spPr>
          <a:xfrm>
            <a:off x="3924350" y="5499100"/>
            <a:ext cx="3999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Own-customized Capacitive sensor &amp; DHT11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838200" y="4999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and Discussions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6686" y="159448"/>
            <a:ext cx="1369992" cy="99182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 txBox="1"/>
          <p:nvPr/>
        </p:nvSpPr>
        <p:spPr>
          <a:xfrm>
            <a:off x="63509" y="-21246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ICSBE25_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1059900" y="6457800"/>
            <a:ext cx="100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The 16</a:t>
            </a:r>
            <a:r>
              <a:rPr b="1" baseline="30000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International Conference on Sustainable Built Environment – 2025, Kandy, Sri Lanka  | 12</a:t>
            </a:r>
            <a:r>
              <a:rPr b="1" baseline="30000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- 14</a:t>
            </a:r>
            <a:r>
              <a:rPr b="1" baseline="30000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December 2025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952709" y="5994854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Pairplot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8" title="Finale_Pair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9900" y="1151275"/>
            <a:ext cx="9871999" cy="484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 txBox="1"/>
          <p:nvPr/>
        </p:nvSpPr>
        <p:spPr>
          <a:xfrm>
            <a:off x="11514166" y="6333427"/>
            <a:ext cx="52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7679459" y="6046792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DIVERSITY !!!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Results and Discussions</a:t>
            </a:r>
            <a:endParaRPr b="1" sz="2400"/>
          </a:p>
        </p:txBody>
      </p:sp>
      <p:pic>
        <p:nvPicPr>
          <p:cNvPr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6686" y="159448"/>
            <a:ext cx="1369992" cy="99182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 txBox="1"/>
          <p:nvPr/>
        </p:nvSpPr>
        <p:spPr>
          <a:xfrm>
            <a:off x="63509" y="-21246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ICSBE25_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sp>
        <p:nvSpPr>
          <p:cNvPr id="131" name="Google Shape;131;p9"/>
          <p:cNvSpPr txBox="1"/>
          <p:nvPr/>
        </p:nvSpPr>
        <p:spPr>
          <a:xfrm>
            <a:off x="710600" y="6457800"/>
            <a:ext cx="1011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The 16</a:t>
            </a:r>
            <a:r>
              <a:rPr b="1" baseline="30000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International Conference on Sustainable Built Environment – 2025, Kandy, Sri Lanka  | 12</a:t>
            </a:r>
            <a:r>
              <a:rPr b="1" baseline="30000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- 14</a:t>
            </a:r>
            <a:r>
              <a:rPr b="1" baseline="30000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December 2025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9" title="CM_MLP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1550" y="1952837"/>
            <a:ext cx="3564374" cy="2673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 title="CM_XGBoost_Fin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6700" y="1858900"/>
            <a:ext cx="3564374" cy="2673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9" title="CM_SVM_Fin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599" y="2059938"/>
            <a:ext cx="2974951" cy="22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"/>
          <p:cNvSpPr txBox="1"/>
          <p:nvPr/>
        </p:nvSpPr>
        <p:spPr>
          <a:xfrm>
            <a:off x="3886201" y="1363325"/>
            <a:ext cx="26649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Matrices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3653459" y="4603317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???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324349" y="4733438"/>
            <a:ext cx="26649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Convergence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???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350" y="5215400"/>
            <a:ext cx="3329097" cy="9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93325" y="4854125"/>
            <a:ext cx="4388906" cy="175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/>
          <p:nvPr/>
        </p:nvSpPr>
        <p:spPr>
          <a:xfrm>
            <a:off x="9679500" y="4615238"/>
            <a:ext cx="2097900" cy="17595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11514166" y="6333427"/>
            <a:ext cx="52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Conclusion and Future works</a:t>
            </a:r>
            <a:endParaRPr b="1" sz="2400"/>
          </a:p>
        </p:txBody>
      </p:sp>
      <p:sp>
        <p:nvSpPr>
          <p:cNvPr id="148" name="Google Shape;148;p10"/>
          <p:cNvSpPr txBox="1"/>
          <p:nvPr/>
        </p:nvSpPr>
        <p:spPr>
          <a:xfrm>
            <a:off x="63509" y="-21246"/>
            <a:ext cx="2286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ICSBE25_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pic>
        <p:nvPicPr>
          <p:cNvPr id="149" name="Google Shape;1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6686" y="159448"/>
            <a:ext cx="1369992" cy="99182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0"/>
          <p:cNvSpPr txBox="1"/>
          <p:nvPr/>
        </p:nvSpPr>
        <p:spPr>
          <a:xfrm>
            <a:off x="710600" y="6457800"/>
            <a:ext cx="1011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The 16</a:t>
            </a:r>
            <a:r>
              <a:rPr b="1" baseline="30000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International Conference on Sustainable Built Environment – 2025, Kandy, Sri Lanka  | 12</a:t>
            </a:r>
            <a:r>
              <a:rPr b="1" baseline="30000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- 14</a:t>
            </a:r>
            <a:r>
              <a:rPr b="1" baseline="30000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December 2025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942575" y="2104375"/>
            <a:ext cx="3021900" cy="132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Multi Sensor SHM System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41550" y="3591850"/>
            <a:ext cx="1236900" cy="6105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DHT11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2003125" y="3591850"/>
            <a:ext cx="1236900" cy="6105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Capacitive 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3564700" y="3591850"/>
            <a:ext cx="1236900" cy="6105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Thickness</a:t>
            </a:r>
            <a:r>
              <a:rPr b="1" lang="en-US" sz="17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451950" y="2829900"/>
            <a:ext cx="3335100" cy="1565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ML Analysis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328775" y="977025"/>
            <a:ext cx="2743200" cy="99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Crack Localization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7" name="Google Shape;157;p10"/>
          <p:cNvCxnSpPr>
            <a:stCxn id="147" idx="2"/>
          </p:cNvCxnSpPr>
          <p:nvPr/>
        </p:nvCxnSpPr>
        <p:spPr>
          <a:xfrm flipH="1">
            <a:off x="4277700" y="1690825"/>
            <a:ext cx="1818300" cy="89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0"/>
          <p:cNvCxnSpPr>
            <a:stCxn id="151" idx="3"/>
          </p:cNvCxnSpPr>
          <p:nvPr/>
        </p:nvCxnSpPr>
        <p:spPr>
          <a:xfrm>
            <a:off x="3964475" y="27672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0"/>
          <p:cNvCxnSpPr/>
          <p:nvPr/>
        </p:nvCxnSpPr>
        <p:spPr>
          <a:xfrm>
            <a:off x="4230650" y="2887350"/>
            <a:ext cx="970800" cy="54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10"/>
          <p:cNvSpPr/>
          <p:nvPr/>
        </p:nvSpPr>
        <p:spPr>
          <a:xfrm>
            <a:off x="7299600" y="4823850"/>
            <a:ext cx="2176500" cy="12057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Real Time Monitoring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3709825" y="5026975"/>
            <a:ext cx="2176500" cy="12057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Deploy with 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multiple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nodes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8880950" y="3623150"/>
            <a:ext cx="970800" cy="15657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637825" y="5359775"/>
            <a:ext cx="1818300" cy="361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11514166" y="6333427"/>
            <a:ext cx="52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idx="11" type="ftr"/>
          </p:nvPr>
        </p:nvSpPr>
        <p:spPr>
          <a:xfrm>
            <a:off x="838200" y="6559378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002060"/>
                </a:solidFill>
              </a:rPr>
              <a:t>The 16</a:t>
            </a:r>
            <a:r>
              <a:rPr b="1" baseline="30000" lang="en-US" sz="1400">
                <a:solidFill>
                  <a:srgbClr val="002060"/>
                </a:solidFill>
              </a:rPr>
              <a:t>th</a:t>
            </a:r>
            <a:r>
              <a:rPr b="1" lang="en-US" sz="1400">
                <a:solidFill>
                  <a:srgbClr val="002060"/>
                </a:solidFill>
              </a:rPr>
              <a:t> International Conference on Sustainable Built Environment – 2025, Kandy, Sri Lanka  | 12</a:t>
            </a:r>
            <a:r>
              <a:rPr b="1" baseline="30000" lang="en-US" sz="1400">
                <a:solidFill>
                  <a:srgbClr val="002060"/>
                </a:solidFill>
              </a:rPr>
              <a:t>th</a:t>
            </a:r>
            <a:r>
              <a:rPr b="1" lang="en-US" sz="1400">
                <a:solidFill>
                  <a:srgbClr val="002060"/>
                </a:solidFill>
              </a:rPr>
              <a:t> - 14</a:t>
            </a:r>
            <a:r>
              <a:rPr b="1" baseline="30000" lang="en-US" sz="1400">
                <a:solidFill>
                  <a:srgbClr val="002060"/>
                </a:solidFill>
              </a:rPr>
              <a:t>th</a:t>
            </a:r>
            <a:r>
              <a:rPr b="1" lang="en-US" sz="1400">
                <a:solidFill>
                  <a:srgbClr val="002060"/>
                </a:solidFill>
              </a:rPr>
              <a:t> December 2025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002060"/>
                </a:solidFill>
              </a:rPr>
              <a:t> </a:t>
            </a:r>
            <a:endParaRPr/>
          </a:p>
        </p:txBody>
      </p:sp>
      <p:sp>
        <p:nvSpPr>
          <p:cNvPr id="170" name="Google Shape;170;p11"/>
          <p:cNvSpPr txBox="1"/>
          <p:nvPr/>
        </p:nvSpPr>
        <p:spPr>
          <a:xfrm>
            <a:off x="63509" y="-21246"/>
            <a:ext cx="2286693" cy="361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ICSBE25_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461577" y="1936409"/>
            <a:ext cx="11268900" cy="2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</a:rPr>
              <a:t>Supervisor</a:t>
            </a:r>
            <a:r>
              <a:rPr lang="en-US" sz="1600"/>
              <a:t> - Prof.Maheshi Dissanayake (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Electrical and Electronic Engineering, UoP</a:t>
            </a:r>
            <a:r>
              <a:rPr lang="en-US" sz="1600"/>
              <a:t>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Co Supervisor</a:t>
            </a:r>
            <a:r>
              <a:rPr lang="en-US" sz="1600"/>
              <a:t> - Dr.H.A.D.Samith Buddhika (Department of Civil Engineering, UoP)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6686" y="159448"/>
            <a:ext cx="1369992" cy="99182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 txBox="1"/>
          <p:nvPr/>
        </p:nvSpPr>
        <p:spPr>
          <a:xfrm>
            <a:off x="11514166" y="6333427"/>
            <a:ext cx="5296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461577" y="758551"/>
            <a:ext cx="5949064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Acknowledgements &amp; References</a:t>
            </a:r>
            <a:endParaRPr b="1" i="0" sz="2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461577" y="1409338"/>
            <a:ext cx="23775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</a:t>
            </a:r>
            <a:r>
              <a:rPr b="1" lang="en-US" sz="1800">
                <a:solidFill>
                  <a:schemeClr val="dk1"/>
                </a:solidFill>
              </a:rPr>
              <a:t>nowledgements</a:t>
            </a:r>
            <a:endParaRPr b="1" i="0" sz="18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535702" y="2820239"/>
            <a:ext cx="23775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References</a:t>
            </a:r>
            <a:endParaRPr b="1" i="0" sz="18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535701" y="3278925"/>
            <a:ext cx="109785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[1] E. T. Júnior, A. Cury, and J. L. Júnior, "Assessment of Low-Cost Wireless Sensors for Structural Health Monitoring Applications,"Research, Society and Development, vol. 10, no. 4, 2021. doi: 10.33448/rsd-v10i4.14197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[2] Jin Yan et al., "Concrete Crack Detection and Monitoring Using a Capacitive Dense Sensor Array,"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Sensors, vol. 22, no. 4, 2022.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[3] J. Chinna Babu et al., "IoT-Based Intelligent System for Internal Crack Detection in Building Blocks,"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Journal of Sensors, vol. 2022, Article ID 2332271.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[4] Ahmed Badawy et al., "Structural Health Monitoring Using Wireless Sensor Networks: A Comprehensive Survey,"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Computer Communications, vol. 121, 2018, pp. 1–16. doi: 10.1016/j.comcom.2018.03.012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[5] J. F. Canny, "A computational approach to edge detection," IEEE Transactions on Pattern Analysis and Machine Intelligence, vol. PAMI-8, no. 6, pp. 679–698, Nov. 1986.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[6] A. Author et al., "Crack detection in concrete surfaces using convolutional neural networks," Journal of Structural Engineering, vol. 145, no. 3, pp. 04019012, Mar. 2019.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[7] T. Author et al., "Real-time crack detection in infrastructure using TensorFlow," Automation in Construction, vol. 102, pp. 1–10, Dec. 2019.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2"/>
          <p:cNvSpPr txBox="1"/>
          <p:nvPr>
            <p:ph idx="11" type="ftr"/>
          </p:nvPr>
        </p:nvSpPr>
        <p:spPr>
          <a:xfrm>
            <a:off x="1889760" y="645160"/>
            <a:ext cx="8412480" cy="803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000">
                <a:solidFill>
                  <a:schemeClr val="lt1"/>
                </a:solidFill>
              </a:rPr>
              <a:t>The 16</a:t>
            </a:r>
            <a:r>
              <a:rPr b="1" baseline="30000" lang="en-US" sz="2000">
                <a:solidFill>
                  <a:schemeClr val="lt1"/>
                </a:solidFill>
              </a:rPr>
              <a:t>th</a:t>
            </a:r>
            <a:r>
              <a:rPr b="1" lang="en-US" sz="2000">
                <a:solidFill>
                  <a:schemeClr val="lt1"/>
                </a:solidFill>
              </a:rPr>
              <a:t> International Conference on Sustainable Built Environment – 2025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000">
                <a:solidFill>
                  <a:schemeClr val="lt1"/>
                </a:solidFill>
              </a:rPr>
              <a:t>Kandy, Sri Lanka  | 12</a:t>
            </a:r>
            <a:r>
              <a:rPr b="1" baseline="30000" lang="en-US" sz="2000">
                <a:solidFill>
                  <a:schemeClr val="lt1"/>
                </a:solidFill>
              </a:rPr>
              <a:t>th</a:t>
            </a:r>
            <a:r>
              <a:rPr b="1" lang="en-US" sz="2000">
                <a:solidFill>
                  <a:schemeClr val="lt1"/>
                </a:solidFill>
              </a:rPr>
              <a:t> - 14</a:t>
            </a:r>
            <a:r>
              <a:rPr b="1" baseline="30000" lang="en-US" sz="2000">
                <a:solidFill>
                  <a:schemeClr val="lt1"/>
                </a:solidFill>
              </a:rPr>
              <a:t>th</a:t>
            </a:r>
            <a:r>
              <a:rPr b="1" lang="en-US" sz="2000">
                <a:solidFill>
                  <a:schemeClr val="lt1"/>
                </a:solidFill>
              </a:rPr>
              <a:t> December 2025 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63509" y="-21246"/>
            <a:ext cx="2286693" cy="361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ICSBE25_xxx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